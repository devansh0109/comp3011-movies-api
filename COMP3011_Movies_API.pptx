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71" r:id="rId10"/>
    <p:sldId id="272" r:id="rId11"/>
    <p:sldId id="263" r:id="rId12"/>
    <p:sldId id="264" r:id="rId13"/>
    <p:sldId id="275" r:id="rId14"/>
    <p:sldId id="265" r:id="rId15"/>
    <p:sldId id="273" r:id="rId16"/>
    <p:sldId id="266" r:id="rId17"/>
    <p:sldId id="274" r:id="rId18"/>
    <p:sldId id="267" r:id="rId19"/>
    <p:sldId id="276" r:id="rId20"/>
    <p:sldId id="268" r:id="rId21"/>
    <p:sldId id="26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126" d="100"/>
          <a:sy n="126" d="100"/>
        </p:scale>
        <p:origin x="1432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425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C3580">
              <a:alpha val="60000"/>
            </a:srgbClr>
          </a:solidFill>
          <a:ln w="12700">
            <a:solidFill>
              <a:srgbClr val="1C3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20116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COMP3011 Web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RESTful Web API with CRUD, token authentication, analytics,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content-based recommendations, and MCP server integration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1325880" cy="329184"/>
          </a:xfrm>
          <a:prstGeom prst="rect">
            <a:avLst/>
          </a:prstGeom>
          <a:solidFill>
            <a:srgbClr val="1C3580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Python / Django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10512" y="3291840"/>
            <a:ext cx="1325880" cy="329184"/>
          </a:xfrm>
          <a:prstGeom prst="rect">
            <a:avLst/>
          </a:prstGeom>
          <a:solidFill>
            <a:srgbClr val="1C3580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10512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SQLite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55264" y="3291840"/>
            <a:ext cx="1325880" cy="329184"/>
          </a:xfrm>
          <a:prstGeom prst="rect">
            <a:avLst/>
          </a:prstGeom>
          <a:solidFill>
            <a:srgbClr val="1C3580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55264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DRF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0016" y="3291840"/>
            <a:ext cx="1325880" cy="329184"/>
          </a:xfrm>
          <a:prstGeom prst="rect">
            <a:avLst/>
          </a:prstGeom>
          <a:solidFill>
            <a:srgbClr val="1C3580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0016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Token Auth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44768" y="3291840"/>
            <a:ext cx="1325880" cy="329184"/>
          </a:xfrm>
          <a:prstGeom prst="rect">
            <a:avLst/>
          </a:prstGeom>
          <a:solidFill>
            <a:srgbClr val="1C3580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OpenAPI 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3291840"/>
            <a:ext cx="1325880" cy="329184"/>
          </a:xfrm>
          <a:prstGeom prst="rect">
            <a:avLst/>
          </a:prstGeom>
          <a:solidFill>
            <a:srgbClr val="1C3580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0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MCP Server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41C4A"/>
          </a:solidFill>
          <a:ln w="12700">
            <a:solidFill>
              <a:srgbClr val="14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49884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Individual Coursework 1 |Devansh Singhal  |  devanshsinghal0109.pythonanywhere.com/api/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91440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9601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🎬  Full CRUD + Auth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34416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Movies and Reviews with token-protected writes. PUT, PATCH, DELETE. Input validation with proper HTTP status codes.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91440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0712" y="9601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📊  5 Analytics Endpoints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0712" y="134416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Top-rated, most-reviewed, genre summary, decade trends, and advanced multi-parameter search.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868680"/>
            <a:ext cx="91440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9601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🤖  Recommendation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2512" y="134416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Content-based filtering scoring on genre, director, era, and ratings. No external API — fully offline and explainable.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91440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2880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🔗  MCP Server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2644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15 endpoints exposed as AI tools. Claude Desktop can query the movie catalogue via natural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7889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46120" y="2788920"/>
            <a:ext cx="91440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0712" y="2880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📦  Real Dataset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10712" y="32644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4,800 films from TMDB Kaggle dataset. 14,000+ synthetic reviews calibrated to real TMDB vote statistics.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7889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2788920"/>
            <a:ext cx="91440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82512" y="2880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✅  46 Passing Tests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82512" y="32644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test classes covering auth, CRUD, analytics, recommendations, serialiser structure, and edge cases.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Stack &amp; Justification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</a:rPr>
              <a:t>Layer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600200" y="804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</a:rPr>
              <a:t>Choice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83280" y="804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</a:rPr>
              <a:t>Evaluated Against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0" y="804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</a:rPr>
              <a:t>Key Reason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1155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Language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11155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Python 3.12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0" y="11155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Node.js, Go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0" y="11155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Ecosystem, readability, DRF support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572768"/>
            <a:ext cx="8595360" cy="402336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15727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Django 6 + DRF 3.16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15727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FastAPI, Flask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0" y="15727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Serialisers, ORM, permissions — no extra packages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029968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0299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20299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SQLite → PostgreSQL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20299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MongoDB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0" y="20299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ORM-only access; one settings change to migrate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487168"/>
            <a:ext cx="8595360" cy="402336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4871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Auth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24871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Token Authentication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24871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JWT, Session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0" y="24871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Stateless, simple, no refresh token complexity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44368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9443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API Docs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0200" y="29443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drf-spectacular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0" y="29443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drf-yasg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03520" y="29443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OpenAPI 3 (current standard); auto-generated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401568"/>
            <a:ext cx="8595360" cy="402336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34015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Recommender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00200" y="34015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Content-based filter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83280" y="34015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LLM API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0" y="34015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No cost, offline, explainable with reasons array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858768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38587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AI Interface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00200" y="38587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MCP server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83280" y="38587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REST client only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03520" y="38587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Natural language tool calls via Claude Desktop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315968"/>
            <a:ext cx="8595360" cy="402336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3159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600200" y="43159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PythonAnywhere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383280" y="43159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Heroku, Railway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03520" y="43159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Free tier, Python-native, simple WSGI config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Model &amp;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2918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29184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Movie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  (PK, auto)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367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 (CharField)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genre  (e.g. Action/Adventure)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release_year  (PositiveInt)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director  (CharField)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437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overview  (TextField)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455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created_at  (auto timestamp)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868680"/>
            <a:ext cx="32918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0" y="868680"/>
            <a:ext cx="329184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8686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1335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  (PK, auto)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16367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movie  (FK → Movie)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1938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reviewer_name  (CharField)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2240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  (1–5, validated)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2542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comment  (TextField)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28437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created_at  (auto timestamp)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2651760"/>
            <a:ext cx="1828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47872" y="2468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2468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*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27249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</a:rPr>
              <a:t>one-to-many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</a:rPr>
              <a:t>CASCADE delete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369A1"/>
                </a:solidFill>
              </a:rPr>
              <a:t>MovieSerializer computes  average_rating  and  review_count  on every GET — calculated via ORM aggregation, never stored as columns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 (15 total)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697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822960"/>
            <a:ext cx="18288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Method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822960"/>
            <a:ext cx="18288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Endpoint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822960"/>
            <a:ext cx="18288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56448" y="822960"/>
            <a:ext cx="18288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Auth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92708"/>
            <a:ext cx="8595360" cy="269748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120140"/>
            <a:ext cx="822960" cy="2148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120140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07008" y="1092708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/api/auth/register/  |  /api/auth/login/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10912" y="1092708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Register or login — returns auth token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93024" y="1092708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362456"/>
            <a:ext cx="8595360" cy="269748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1389888"/>
            <a:ext cx="822960" cy="2148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1389888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207008" y="1362456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10912" y="1362456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List all movies (paginated, PAGE_SIZE=20)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93024" y="1362456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632204"/>
            <a:ext cx="8595360" cy="269748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1659636"/>
            <a:ext cx="822960" cy="2148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1659636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207008" y="1632204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10912" y="1632204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Create a movie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93024" y="1632204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1901952"/>
            <a:ext cx="8595360" cy="269748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1929384"/>
            <a:ext cx="822960" cy="2148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1929384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207008" y="1901952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/api/movies/&lt;id&gt;/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10912" y="1901952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Retrieve with avg_rating and review_count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93024" y="1901952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171700"/>
            <a:ext cx="8595360" cy="269748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" y="2199132"/>
            <a:ext cx="822960" cy="2148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2199132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PUT / PATCH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207008" y="2171700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/api/movies/&lt;id&gt;/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10912" y="2171700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Full or partial update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93024" y="2171700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2441448"/>
            <a:ext cx="8595360" cy="269748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" y="2468880"/>
            <a:ext cx="822960" cy="2148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0040" y="2468880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DELETE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207008" y="2441448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/api/movies/&lt;id&gt;/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10912" y="2441448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Delete movie and all its reviews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93024" y="2441448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2711196"/>
            <a:ext cx="8595360" cy="269748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20040" y="2738628"/>
            <a:ext cx="822960" cy="2148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0040" y="2738628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207008" y="2711196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/api/movies/&lt;id&gt;/reviews/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10912" y="2711196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List all reviews for a movie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193024" y="2711196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2980944"/>
            <a:ext cx="8595360" cy="269748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20040" y="3008376"/>
            <a:ext cx="822960" cy="2148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0040" y="3008376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207008" y="2980944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/api/movies/&lt;id&gt;/reviews/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010912" y="2980944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Add review — rating validated 1–5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193024" y="2980944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3250692"/>
            <a:ext cx="8595360" cy="269748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20040" y="3278124"/>
            <a:ext cx="822960" cy="2148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3278124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PATCH / DELETE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207008" y="3250692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/api/movies/&lt;id&gt;/reviews/&lt;rid&gt;/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010912" y="3250692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Update or delete a review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193024" y="3250692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74320" y="3520440"/>
            <a:ext cx="8595360" cy="269748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20040" y="3547872"/>
            <a:ext cx="822960" cy="2148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20040" y="3547872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207008" y="3520440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/api/movies/search/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010912" y="3520440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Filter: q, genre, year, min_rating (combinable)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93024" y="3520440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74320" y="3790188"/>
            <a:ext cx="8595360" cy="269748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20040" y="3817620"/>
            <a:ext cx="822960" cy="2148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20040" y="3817620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207008" y="3790188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/api/movies/top-rated/  |  most-reviewed/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010912" y="3790188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Ranked by avg rating or review count  (?limit=N)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193024" y="3790188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" y="4059936"/>
            <a:ext cx="8595360" cy="269748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320040" y="4087368"/>
            <a:ext cx="822960" cy="2148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20040" y="4087368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1207008" y="4059936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/api/movies/genre-summary/  |  decade-summary/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010912" y="4059936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Per-genre or per-decade aggregated stats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193024" y="4059936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74320" y="4329684"/>
            <a:ext cx="8595360" cy="269748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20040" y="4357116"/>
            <a:ext cx="822960" cy="2148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20040" y="4357116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1207008" y="4329684"/>
            <a:ext cx="3749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/api/movies/&lt;id&gt;/recommendations/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010912" y="4329684"/>
            <a:ext cx="30632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5 similar films with match scores and reasons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193024" y="4329684"/>
            <a:ext cx="3657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274320" y="484632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</a:rPr>
              <a:t>🔒 Requires Authorization: Token &lt;key&gt;    🌐 Public — no auth needed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Authentication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  POST /api/auth/register/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3167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Request: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"username": "alice", "password": "..." 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2011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Response: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200253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{ "token": "abc123..." 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206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  POST /api/auth/login/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9472" y="13167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Request: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19472" y="149961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"username": "alice", "password": "..." 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19472" y="2011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Response: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200253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{ "token": "abc123..." 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4206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971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  Authenticated request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" y="33741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Request: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" y="355701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Authorization: Token abc123...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4069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Response: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08760" y="405993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200 OK / 201 Created / 204 No Content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4206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971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  Unauthenticated write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3741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Request: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9472" y="355701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/api/movies/  (no token)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9472" y="4069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Response: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405993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401 Unauthorized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C525BF-4CE7-B26E-BBBC-00DCB05F9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683" y="0"/>
            <a:ext cx="677663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26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Analytics Endpoints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8463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91440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3840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9235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Advanced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2344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/api/movies/search/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57800" y="92354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Filter by keyword, genre, year, and min_rating — all combinable in a single request.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36776"/>
            <a:ext cx="4846320" cy="676656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636776"/>
            <a:ext cx="91440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636776"/>
            <a:ext cx="3840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Top Rated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00253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/api/movies/top-rated/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7800" y="169164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Movies ranked by average review score. Supports ?limit=N. Only movies with reviews included.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404872"/>
            <a:ext cx="48463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404872"/>
            <a:ext cx="91440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404872"/>
            <a:ext cx="3840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24597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Most Reviewed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27706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/api/movies/most-reviewed/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57800" y="245973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Movies ranked by total review count with title as tiebreaker — reflects dataset popularity.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172968"/>
            <a:ext cx="4846320" cy="676656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72968"/>
            <a:ext cx="91440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172968"/>
            <a:ext cx="3840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🎭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" y="32278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Genre Summary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" y="353872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/api/movies/genre-summary/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322783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Per-genre aggregation: movie count and average rating across all 18 genres.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ACE022-40C1-39EE-C6CD-FECA41191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65" y="0"/>
            <a:ext cx="730287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72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FAADC-949D-238E-AB0E-FE9977EDA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132" y="10048"/>
            <a:ext cx="635373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53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Content-Based Recommendation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Scoring Algorithm  (max 100 pts)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384048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408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Genre overlap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95728" y="1399032"/>
            <a:ext cx="47548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95728" y="1399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0–40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17007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Proportional to shared genres / source count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384048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21579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Director match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95728" y="2148840"/>
            <a:ext cx="47548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95728" y="21488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" y="2450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Exact match — ignores 'Unknown'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52928"/>
            <a:ext cx="384048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852928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" y="2907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Era proximity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95728" y="2898648"/>
            <a:ext cx="47548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95728" y="28986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20/10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≤5 years = 20pts, ≤15 years = 10pts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384048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602736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" y="3657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Rating similarity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95728" y="3648456"/>
            <a:ext cx="47548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95728" y="364845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3950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Average rating within 0.5 stars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343400"/>
            <a:ext cx="3840480" cy="420624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34340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69A1"/>
                </a:solidFill>
              </a:rPr>
              <a:t>Pre-filtered with Django Q objects — only genre/director matches loaded. No full table scan of 4,800 rows.</a:t>
            </a:r>
            <a:endParaRPr lang="en-US" sz="9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B5B9295-BE43-704F-7D42-94474D2F67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55" t="4298" r="19154"/>
          <a:stretch>
            <a:fillRect/>
          </a:stretch>
        </p:blipFill>
        <p:spPr>
          <a:xfrm>
            <a:off x="4819794" y="759754"/>
            <a:ext cx="3710652" cy="43270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MCP Server — Claude Desktop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is MCP?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Context Protocol (MCP) is an open standard by Anthropic that lets AI assistants call external tools via a standardised interface.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mcp_server.py wraps all 15 API endpoints as callable tools — Claude Desktop can query the movie catalogue using plain English, with no HTTP knowledge required.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41148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41148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323697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32369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You ask Claude Desktop in plain English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34930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4930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Claude calls mcp_server.py tools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374904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7490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Tools make HTTP requests to Django 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400507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40050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Django queries SQLite with 4,800 movies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426110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42611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Real data flows back to Claude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451713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45171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Claude formats a natural language answer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868680"/>
            <a:ext cx="4297680" cy="3995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868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Desktop — Live Demo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1307592"/>
            <a:ext cx="4114800" cy="3465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📸  INSERT SCREENSHOT: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mcp-tool-call.png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Showing Claude Desktop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hammer icon active and your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API returning real movie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from a natural language query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1C21575-2183-1BE3-FC87-A9CF6ED0AA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57" t="4884" r="16019" b="15605"/>
          <a:stretch>
            <a:fillRect/>
          </a:stretch>
        </p:blipFill>
        <p:spPr>
          <a:xfrm>
            <a:off x="5283925" y="789800"/>
            <a:ext cx="2873829" cy="4089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873EE8-3BF4-C35A-D4A4-7C3694689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76" y="0"/>
            <a:ext cx="382204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93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Testing — 47 Tests, All Passing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1031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tests passing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868680"/>
            <a:ext cx="6309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33472" y="1005840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33472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9052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Auth (6)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179576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Register, login, duplicate username, missing fields, wrong password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1527048"/>
            <a:ext cx="630936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33472" y="1664208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33472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15636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Movie CRUD (9)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1837944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List, create, retrieve, PUT, PATCH, DELETE — auth guard on every write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2185416"/>
            <a:ext cx="6309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33472" y="2322576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33472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22219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Review CRUD (8)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2496312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List, create, PATCH, DELETE — cross-movie 404 check included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0" y="2843784"/>
            <a:ext cx="630936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33472" y="2980944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33472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28803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Analytics (10)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3154680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All 5 endpoints, limit param, invalid year, invalid min_rating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0" y="3502152"/>
            <a:ext cx="6309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633472" y="3639312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33472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0" y="3538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Serialiser (3)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381304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id field present, computed avg_rating correct, null when no reviews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0" y="4160520"/>
            <a:ext cx="630936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633472" y="4297680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33472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17520" y="4197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Recommendations (10)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17520" y="4471416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Status, structure, source excluded, ≤5 results, director scoring, 404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C051E8-254C-AD55-B7C9-62367A622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32" y="1527350"/>
            <a:ext cx="6997285" cy="165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18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Version Control &amp; Deployment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81144" y="4136101"/>
            <a:ext cx="4297680" cy="908371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81144" y="3923052"/>
            <a:ext cx="42976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06824" y="389280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Deployment — PythonAnywhere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81728" y="4027229"/>
            <a:ext cx="409651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     devanshsinghal0109.pythonanywhere.com/api/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Swagger: devanshsinghal0109.pythonanywhere.com/api/docs/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  PythonAnywhere Free Tier  |  Django WSGI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A06F3B9-7CA8-1D7B-A2C1-66A59EB9A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512" y="741236"/>
            <a:ext cx="3652293" cy="31200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4D69B96-97C1-C128-CFD0-504D3E5CE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87" t="12503" r="25549" b="1539"/>
          <a:stretch>
            <a:fillRect/>
          </a:stretch>
        </p:blipFill>
        <p:spPr>
          <a:xfrm>
            <a:off x="456195" y="722225"/>
            <a:ext cx="3567165" cy="4421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F6262D-F2CE-8B08-ACC3-FE0C6FE60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159" y="0"/>
            <a:ext cx="67136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05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Documentation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291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29184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Documentation covers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3502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167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15 endpoints with HTTP methods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67335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550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Request body schemas per endpoint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01168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9933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Response format and field types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35000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Query parameter definitions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68833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6700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authentication process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02666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0083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codes (400, 401, 404)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36499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34670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Try it out — executes against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the deployed PythonAnywhere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370332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6850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Raw OpenAPI 3 schema at /api/schema/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404164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in docs/ folder in GitHub repo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0645EC7-D706-09D9-4056-B5AB4FDEA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864616"/>
            <a:ext cx="5285232" cy="40287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7FD648-175B-0EF2-B809-14904B265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80" y="524855"/>
            <a:ext cx="7772400" cy="375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68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Generative AI Usage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</a:rPr>
              <a:t>Green Light Assessment — GenAI use is permitted and encouraged  |  Tool used: Claude (Anthropic)  |  Logs in genai-logs/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335024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35024"/>
            <a:ext cx="9144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40817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🏗️  Architecture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Evaluated REST vs GraphQL, Django vs FastAPI vs Flask, Token vs JWT. AI surfaced trade-offs; all decisions made independently.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335024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335024"/>
            <a:ext cx="9144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140817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📦  Dataset &amp; import 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3752" y="1737360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suggested TMDB dataset, explained two-CSV structure, generated import_movies.py to merge files and extract directors from JSON.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9144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54203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⭐  Synthetic review design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871216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Designed calibration: vote_average → 1–5 scale, log-scaled review counts from vote_count, normal distribution (σ=0.7) sampling.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468880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2468880"/>
            <a:ext cx="9144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73752" y="254203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🤖  Recommendation algorithm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3752" y="2871216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Explored LLM-based (rejected — paid credits) vs in-house filtering. Designed Q-object pre-filter and weighted scoring formula.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602736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602736"/>
            <a:ext cx="9144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" y="367588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🧪  Test strategy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4005072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suggested non-obvious edge cases: cross-movie 404, auth guard on writes, id field serialiser test, null avg_rating check.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602736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602736"/>
            <a:ext cx="9144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73752" y="367588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🔗  MCP server design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4005072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explained Model Context Protocol specification and how FastMCP wraps Python functions as callable tools with env-var credentials.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480060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All conversation logs exported and stored in genai-logs/ in the GitHub repository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All Deliverables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98064" cy="1097280"/>
          </a:xfrm>
          <a:prstGeom prst="rect">
            <a:avLst/>
          </a:prstGeom>
          <a:solidFill>
            <a:srgbClr val="1C3580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143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Public GitHub Repo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repo with 15+ descriptive commits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0128" y="1051560"/>
            <a:ext cx="2798064" cy="1097280"/>
          </a:xfrm>
          <a:prstGeom prst="rect">
            <a:avLst/>
          </a:prstGeom>
          <a:solidFill>
            <a:srgbClr val="1C3580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9856" y="1143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3048" y="11430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README.md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9856" y="16184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Setup instructions, endpoints, live URL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4496" y="1051560"/>
            <a:ext cx="2798064" cy="1097280"/>
          </a:xfrm>
          <a:prstGeom prst="rect">
            <a:avLst/>
          </a:prstGeom>
          <a:solidFill>
            <a:srgbClr val="1C3580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64224" y="1143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57416" y="11430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Documentation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64224" y="16184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Swagger PDF in docs/ — all 15 endpoints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313432"/>
            <a:ext cx="2798064" cy="1097280"/>
          </a:xfrm>
          <a:prstGeom prst="rect">
            <a:avLst/>
          </a:prstGeom>
          <a:solidFill>
            <a:srgbClr val="1C3580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2404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4048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46 Passing Tests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288036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classes — auth, CRUD, analytics, recommendations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10128" y="2313432"/>
            <a:ext cx="2798064" cy="1097280"/>
          </a:xfrm>
          <a:prstGeom prst="rect">
            <a:avLst/>
          </a:prstGeom>
          <a:solidFill>
            <a:srgbClr val="1C3580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9856" y="2404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13048" y="24048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 Authentication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9856" y="288036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Register, login, protected write endpoints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54496" y="2313432"/>
            <a:ext cx="2798064" cy="1097280"/>
          </a:xfrm>
          <a:prstGeom prst="rect">
            <a:avLst/>
          </a:prstGeom>
          <a:solidFill>
            <a:srgbClr val="1C3580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64224" y="2404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57416" y="24048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Technical Report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64224" y="288036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5-page PDF — stack, data, testing, GenAI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798064" cy="1097280"/>
          </a:xfrm>
          <a:prstGeom prst="rect">
            <a:avLst/>
          </a:prstGeom>
          <a:solidFill>
            <a:srgbClr val="1C3580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" y="3666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36667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PythonAnywhere Deploy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" y="414223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devanshsinghal0109.pythonanywhere.com/api/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10128" y="3575304"/>
            <a:ext cx="2798064" cy="1097280"/>
          </a:xfrm>
          <a:prstGeom prst="rect">
            <a:avLst/>
          </a:prstGeom>
          <a:solidFill>
            <a:srgbClr val="1C3580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19856" y="3666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13048" y="36667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MCP Server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19856" y="414223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Desktop integration — natural language queries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54496" y="3575304"/>
            <a:ext cx="2798064" cy="1097280"/>
          </a:xfrm>
          <a:prstGeom prst="rect">
            <a:avLst/>
          </a:prstGeom>
          <a:solidFill>
            <a:srgbClr val="1C3580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64224" y="3666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57416" y="36667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GenAI Logs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64224" y="414223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Exported conversations in genai-logs/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1668</Words>
  <Application>Microsoft Macintosh PowerPoint</Application>
  <PresentationFormat>On-screen Show (16:9)</PresentationFormat>
  <Paragraphs>309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COMP3011 Movies API</dc:title>
  <dc:subject>PptxGenJS Presentation</dc:subject>
  <dc:creator>Devansh Singhal</dc:creator>
  <cp:lastModifiedBy>Devansh Singhal [sc23ds2]</cp:lastModifiedBy>
  <cp:revision>2</cp:revision>
  <dcterms:created xsi:type="dcterms:W3CDTF">2026-03-20T22:49:37Z</dcterms:created>
  <dcterms:modified xsi:type="dcterms:W3CDTF">2026-03-20T23:20:14Z</dcterms:modified>
</cp:coreProperties>
</file>